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NVIDIA Sans" panose="020B0503020203020204" pitchFamily="34" charset="0"/>
      <p:regular r:id="rId4"/>
      <p:bold r:id="rId5"/>
      <p:italic r:id="rId6"/>
      <p:boldItalic r:id="rId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59" d="100"/>
          <a:sy n="159" d="100"/>
        </p:scale>
        <p:origin x="82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ableStyles" Target="tableStyles.xml"/><Relationship Id="rId5" Type="http://schemas.openxmlformats.org/officeDocument/2006/relationships/font" Target="fonts/font2.fntdata"/><Relationship Id="rId10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h4c069e2fb8e6147a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h4c069e2fb8e6147a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445770" y="240030"/>
            <a:ext cx="79554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b="1">
                <a:solidFill>
                  <a:srgbClr val="000000"/>
                </a:solidFill>
                <a:latin typeface="NVIDIA Sans"/>
                <a:ea typeface="NVIDIA Sans"/>
                <a:cs typeface="NVIDIA Sans"/>
                <a:sym typeface="NVIDIA Sans"/>
              </a:rPr>
              <a:t>Build-a-Claw (BAC) | Demo Content Portfolio</a:t>
            </a:r>
            <a:endParaRPr sz="1100"/>
          </a:p>
        </p:txBody>
      </p:sp>
      <p:sp>
        <p:nvSpPr>
          <p:cNvPr id="55" name="Google Shape;55;p13"/>
          <p:cNvSpPr txBox="1"/>
          <p:nvPr/>
        </p:nvSpPr>
        <p:spPr>
          <a:xfrm>
            <a:off x="452628" y="589788"/>
            <a:ext cx="7818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0" dirty="0">
                <a:solidFill>
                  <a:srgbClr val="5E5E5E"/>
                </a:solidFill>
                <a:latin typeface="NVIDIA Sans"/>
                <a:ea typeface="NVIDIA Sans"/>
                <a:cs typeface="NVIDIA Sans"/>
                <a:sym typeface="NVIDIA Sans"/>
              </a:rPr>
              <a:t>A shared content taxonomy across reservation-based Inception BAC and open-flow Developer BAC</a:t>
            </a:r>
            <a:endParaRPr sz="1100" dirty="0"/>
          </a:p>
        </p:txBody>
      </p:sp>
      <p:sp>
        <p:nvSpPr>
          <p:cNvPr id="59" name="Google Shape;59;p13"/>
          <p:cNvSpPr/>
          <p:nvPr/>
        </p:nvSpPr>
        <p:spPr>
          <a:xfrm>
            <a:off x="445770" y="1508760"/>
            <a:ext cx="932700" cy="294900"/>
          </a:xfrm>
          <a:prstGeom prst="rect">
            <a:avLst/>
          </a:prstGeom>
          <a:solidFill>
            <a:srgbClr val="303030"/>
          </a:solidFill>
          <a:ln w="7150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507492" y="1536192"/>
            <a:ext cx="809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SESSION</a:t>
            </a:r>
            <a:br>
              <a:rPr lang="en" sz="6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</a:br>
            <a:r>
              <a:rPr lang="en" sz="6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POSITION</a:t>
            </a:r>
            <a:endParaRPr sz="1100"/>
          </a:p>
        </p:txBody>
      </p:sp>
      <p:sp>
        <p:nvSpPr>
          <p:cNvPr id="61" name="Google Shape;61;p13"/>
          <p:cNvSpPr/>
          <p:nvPr/>
        </p:nvSpPr>
        <p:spPr>
          <a:xfrm>
            <a:off x="1378458" y="1508760"/>
            <a:ext cx="1316700" cy="294900"/>
          </a:xfrm>
          <a:prstGeom prst="rect">
            <a:avLst/>
          </a:prstGeom>
          <a:solidFill>
            <a:srgbClr val="303030"/>
          </a:solidFill>
          <a:ln w="7150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1440180" y="1536192"/>
            <a:ext cx="1193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CONTENT THEME</a:t>
            </a:r>
            <a:br>
              <a:rPr lang="en" sz="6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</a:br>
            <a:r>
              <a:rPr lang="en" sz="6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(Shared)</a:t>
            </a:r>
            <a:endParaRPr sz="1100"/>
          </a:p>
        </p:txBody>
      </p:sp>
      <p:sp>
        <p:nvSpPr>
          <p:cNvPr id="63" name="Google Shape;63;p13"/>
          <p:cNvSpPr/>
          <p:nvPr/>
        </p:nvSpPr>
        <p:spPr>
          <a:xfrm>
            <a:off x="2695194" y="1508760"/>
            <a:ext cx="1460700" cy="294900"/>
          </a:xfrm>
          <a:prstGeom prst="rect">
            <a:avLst/>
          </a:prstGeom>
          <a:solidFill>
            <a:srgbClr val="303030"/>
          </a:solidFill>
          <a:ln w="7150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2756916" y="1536192"/>
            <a:ext cx="13374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DEMO CONTENT</a:t>
            </a:r>
            <a:endParaRPr sz="1100"/>
          </a:p>
        </p:txBody>
      </p:sp>
      <p:sp>
        <p:nvSpPr>
          <p:cNvPr id="65" name="Google Shape;65;p13"/>
          <p:cNvSpPr/>
          <p:nvPr/>
        </p:nvSpPr>
        <p:spPr>
          <a:xfrm>
            <a:off x="4155948" y="1508760"/>
            <a:ext cx="1680300" cy="294900"/>
          </a:xfrm>
          <a:prstGeom prst="rect">
            <a:avLst/>
          </a:prstGeom>
          <a:solidFill>
            <a:srgbClr val="303030"/>
          </a:solidFill>
          <a:ln w="7150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4217670" y="1536192"/>
            <a:ext cx="1556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VALUE / OBJECTIVE</a:t>
            </a:r>
            <a:endParaRPr sz="1100"/>
          </a:p>
        </p:txBody>
      </p:sp>
      <p:sp>
        <p:nvSpPr>
          <p:cNvPr id="67" name="Google Shape;67;p13"/>
          <p:cNvSpPr/>
          <p:nvPr/>
        </p:nvSpPr>
        <p:spPr>
          <a:xfrm>
            <a:off x="5836158" y="1508760"/>
            <a:ext cx="2859900" cy="294900"/>
          </a:xfrm>
          <a:prstGeom prst="rect">
            <a:avLst/>
          </a:prstGeom>
          <a:solidFill>
            <a:srgbClr val="303030"/>
          </a:solidFill>
          <a:ln w="7150" cap="flat" cmpd="sng">
            <a:solidFill>
              <a:srgbClr val="303030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3"/>
          <p:cNvSpPr txBox="1"/>
          <p:nvPr/>
        </p:nvSpPr>
        <p:spPr>
          <a:xfrm>
            <a:off x="5897880" y="1536192"/>
            <a:ext cx="2736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CONTENT INTRODUCTION</a:t>
            </a:r>
            <a:endParaRPr sz="1100"/>
          </a:p>
        </p:txBody>
      </p:sp>
      <p:sp>
        <p:nvSpPr>
          <p:cNvPr id="69" name="Google Shape;69;p13"/>
          <p:cNvSpPr/>
          <p:nvPr/>
        </p:nvSpPr>
        <p:spPr>
          <a:xfrm>
            <a:off x="445770" y="1803654"/>
            <a:ext cx="9327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3"/>
          <p:cNvSpPr/>
          <p:nvPr/>
        </p:nvSpPr>
        <p:spPr>
          <a:xfrm>
            <a:off x="528066" y="1880463"/>
            <a:ext cx="768300" cy="123600"/>
          </a:xfrm>
          <a:prstGeom prst="rect">
            <a:avLst/>
          </a:prstGeom>
          <a:solidFill>
            <a:srgbClr val="76B900"/>
          </a:solidFill>
          <a:ln w="7150" cap="flat" cmpd="sng">
            <a:solidFill>
              <a:srgbClr val="76B900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3"/>
          <p:cNvSpPr txBox="1"/>
          <p:nvPr/>
        </p:nvSpPr>
        <p:spPr>
          <a:xfrm>
            <a:off x="528066" y="1890750"/>
            <a:ext cx="768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REQUIRED CORE</a:t>
            </a:r>
            <a:endParaRPr sz="1100"/>
          </a:p>
        </p:txBody>
      </p:sp>
      <p:sp>
        <p:nvSpPr>
          <p:cNvPr id="72" name="Google Shape;72;p13"/>
          <p:cNvSpPr/>
          <p:nvPr/>
        </p:nvSpPr>
        <p:spPr>
          <a:xfrm>
            <a:off x="1378458" y="1803654"/>
            <a:ext cx="13167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3"/>
          <p:cNvSpPr/>
          <p:nvPr/>
        </p:nvSpPr>
        <p:spPr>
          <a:xfrm>
            <a:off x="1447038" y="1880463"/>
            <a:ext cx="1179600" cy="123600"/>
          </a:xfrm>
          <a:prstGeom prst="rect">
            <a:avLst/>
          </a:prstGeom>
          <a:solidFill>
            <a:srgbClr val="447E00"/>
          </a:solidFill>
          <a:ln w="7150" cap="flat" cmpd="sng">
            <a:solidFill>
              <a:srgbClr val="447E00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3"/>
          <p:cNvSpPr txBox="1"/>
          <p:nvPr/>
        </p:nvSpPr>
        <p:spPr>
          <a:xfrm>
            <a:off x="1447038" y="1890750"/>
            <a:ext cx="11796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BUILD &amp; CREATE</a:t>
            </a:r>
            <a:endParaRPr sz="1100"/>
          </a:p>
        </p:txBody>
      </p:sp>
      <p:sp>
        <p:nvSpPr>
          <p:cNvPr id="75" name="Google Shape;75;p13"/>
          <p:cNvSpPr/>
          <p:nvPr/>
        </p:nvSpPr>
        <p:spPr>
          <a:xfrm>
            <a:off x="2695194" y="1803654"/>
            <a:ext cx="14607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2763774" y="1831086"/>
            <a:ext cx="132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Ping-Pong Game</a:t>
            </a:r>
            <a:b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</a:br>
            <a: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Build &amp; Upgrade</a:t>
            </a:r>
            <a:endParaRPr sz="1100"/>
          </a:p>
        </p:txBody>
      </p:sp>
      <p:sp>
        <p:nvSpPr>
          <p:cNvPr id="77" name="Google Shape;77;p13"/>
          <p:cNvSpPr/>
          <p:nvPr/>
        </p:nvSpPr>
        <p:spPr>
          <a:xfrm>
            <a:off x="4155948" y="1803654"/>
            <a:ext cx="16803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3"/>
          <p:cNvSpPr txBox="1"/>
          <p:nvPr/>
        </p:nvSpPr>
        <p:spPr>
          <a:xfrm>
            <a:off x="4224528" y="1829714"/>
            <a:ext cx="154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Deliver the common prompt-to-result and one-iteration BAC foundation.</a:t>
            </a:r>
            <a:endParaRPr sz="1100"/>
          </a:p>
        </p:txBody>
      </p:sp>
      <p:sp>
        <p:nvSpPr>
          <p:cNvPr id="79" name="Google Shape;79;p13"/>
          <p:cNvSpPr/>
          <p:nvPr/>
        </p:nvSpPr>
        <p:spPr>
          <a:xfrm>
            <a:off x="5836158" y="1803654"/>
            <a:ext cx="28599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3"/>
          <p:cNvSpPr txBox="1"/>
          <p:nvPr/>
        </p:nvSpPr>
        <p:spPr>
          <a:xfrm>
            <a:off x="5904738" y="1825599"/>
            <a:ext cx="27228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>
                <a:solidFill>
                  <a:srgbClr val="5E5E5E"/>
                </a:solidFill>
                <a:latin typeface="NVIDIA Sans"/>
                <a:ea typeface="NVIDIA Sans"/>
                <a:cs typeface="NVIDIA Sans"/>
                <a:sym typeface="NVIDIA Sans"/>
              </a:rPr>
              <a:t>A stable, playable web-game starting point. The group requests one feature or rule change and sees the update.</a:t>
            </a:r>
            <a:endParaRPr sz="1100"/>
          </a:p>
        </p:txBody>
      </p:sp>
      <p:sp>
        <p:nvSpPr>
          <p:cNvPr id="81" name="Google Shape;81;p13"/>
          <p:cNvSpPr/>
          <p:nvPr/>
        </p:nvSpPr>
        <p:spPr>
          <a:xfrm>
            <a:off x="445770" y="2081403"/>
            <a:ext cx="9327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528066" y="2158212"/>
            <a:ext cx="768300" cy="123600"/>
          </a:xfrm>
          <a:prstGeom prst="rect">
            <a:avLst/>
          </a:prstGeom>
          <a:solidFill>
            <a:srgbClr val="5D9B00"/>
          </a:solidFill>
          <a:ln w="7150" cap="flat" cmpd="sng">
            <a:solidFill>
              <a:srgbClr val="5D9B00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3"/>
          <p:cNvSpPr txBox="1"/>
          <p:nvPr/>
        </p:nvSpPr>
        <p:spPr>
          <a:xfrm>
            <a:off x="528066" y="2168499"/>
            <a:ext cx="768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OPTIONAL</a:t>
            </a:r>
            <a:endParaRPr sz="1100"/>
          </a:p>
        </p:txBody>
      </p:sp>
      <p:sp>
        <p:nvSpPr>
          <p:cNvPr id="84" name="Google Shape;84;p13"/>
          <p:cNvSpPr/>
          <p:nvPr/>
        </p:nvSpPr>
        <p:spPr>
          <a:xfrm>
            <a:off x="1378458" y="2081403"/>
            <a:ext cx="13167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1447038" y="2158212"/>
            <a:ext cx="1179600" cy="123600"/>
          </a:xfrm>
          <a:prstGeom prst="rect">
            <a:avLst/>
          </a:prstGeom>
          <a:solidFill>
            <a:srgbClr val="447E00"/>
          </a:solidFill>
          <a:ln w="7150" cap="flat" cmpd="sng">
            <a:solidFill>
              <a:srgbClr val="447E00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1447038" y="2168499"/>
            <a:ext cx="11796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BUILD &amp; CREATE</a:t>
            </a:r>
            <a:endParaRPr sz="1100"/>
          </a:p>
        </p:txBody>
      </p:sp>
      <p:sp>
        <p:nvSpPr>
          <p:cNvPr id="87" name="Google Shape;87;p13"/>
          <p:cNvSpPr/>
          <p:nvPr/>
        </p:nvSpPr>
        <p:spPr>
          <a:xfrm>
            <a:off x="2695194" y="2081403"/>
            <a:ext cx="14607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763774" y="2108835"/>
            <a:ext cx="1323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Physics Platformer</a:t>
            </a:r>
            <a:endParaRPr sz="1100"/>
          </a:p>
        </p:txBody>
      </p:sp>
      <p:sp>
        <p:nvSpPr>
          <p:cNvPr id="89" name="Google Shape;89;p13"/>
          <p:cNvSpPr/>
          <p:nvPr/>
        </p:nvSpPr>
        <p:spPr>
          <a:xfrm>
            <a:off x="4155948" y="2081403"/>
            <a:ext cx="16803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4224528" y="2107463"/>
            <a:ext cx="154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Extend the build experience with visually engaging game logic and physics.</a:t>
            </a:r>
            <a:endParaRPr sz="1100"/>
          </a:p>
        </p:txBody>
      </p:sp>
      <p:sp>
        <p:nvSpPr>
          <p:cNvPr id="91" name="Google Shape;91;p13"/>
          <p:cNvSpPr/>
          <p:nvPr/>
        </p:nvSpPr>
        <p:spPr>
          <a:xfrm>
            <a:off x="5836158" y="2081403"/>
            <a:ext cx="28599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904738" y="2103348"/>
            <a:ext cx="27228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>
                <a:solidFill>
                  <a:srgbClr val="5E5E5E"/>
                </a:solidFill>
                <a:latin typeface="NVIDIA Sans"/>
                <a:ea typeface="NVIDIA Sans"/>
                <a:cs typeface="NVIDIA Sans"/>
                <a:sym typeface="NVIDIA Sans"/>
              </a:rPr>
              <a:t>A prepared platform game is advanced through a guided prompt, highlighting gameplay logic and basic physics.</a:t>
            </a:r>
            <a:endParaRPr sz="1100"/>
          </a:p>
        </p:txBody>
      </p:sp>
      <p:sp>
        <p:nvSpPr>
          <p:cNvPr id="93" name="Google Shape;93;p13"/>
          <p:cNvSpPr/>
          <p:nvPr/>
        </p:nvSpPr>
        <p:spPr>
          <a:xfrm>
            <a:off x="445770" y="2359152"/>
            <a:ext cx="9327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528066" y="2435961"/>
            <a:ext cx="768300" cy="123600"/>
          </a:xfrm>
          <a:prstGeom prst="rect">
            <a:avLst/>
          </a:prstGeom>
          <a:solidFill>
            <a:srgbClr val="5D9B00"/>
          </a:solidFill>
          <a:ln w="7150" cap="flat" cmpd="sng">
            <a:solidFill>
              <a:srgbClr val="5D9B00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528066" y="2446248"/>
            <a:ext cx="768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OPTIONAL</a:t>
            </a:r>
            <a:endParaRPr sz="1100"/>
          </a:p>
        </p:txBody>
      </p:sp>
      <p:sp>
        <p:nvSpPr>
          <p:cNvPr id="96" name="Google Shape;96;p13"/>
          <p:cNvSpPr/>
          <p:nvPr/>
        </p:nvSpPr>
        <p:spPr>
          <a:xfrm>
            <a:off x="1378458" y="2359152"/>
            <a:ext cx="13167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3"/>
          <p:cNvSpPr/>
          <p:nvPr/>
        </p:nvSpPr>
        <p:spPr>
          <a:xfrm>
            <a:off x="1447038" y="2435961"/>
            <a:ext cx="1179600" cy="123600"/>
          </a:xfrm>
          <a:prstGeom prst="rect">
            <a:avLst/>
          </a:prstGeom>
          <a:solidFill>
            <a:srgbClr val="447E00"/>
          </a:solidFill>
          <a:ln w="7150" cap="flat" cmpd="sng">
            <a:solidFill>
              <a:srgbClr val="447E00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1447038" y="2446248"/>
            <a:ext cx="11796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BUILD &amp; CREATE</a:t>
            </a:r>
            <a:endParaRPr sz="1100"/>
          </a:p>
        </p:txBody>
      </p:sp>
      <p:sp>
        <p:nvSpPr>
          <p:cNvPr id="99" name="Google Shape;99;p13"/>
          <p:cNvSpPr/>
          <p:nvPr/>
        </p:nvSpPr>
        <p:spPr>
          <a:xfrm>
            <a:off x="2695194" y="2359152"/>
            <a:ext cx="14607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2763774" y="2386584"/>
            <a:ext cx="132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3D Interactive</a:t>
            </a:r>
            <a:b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</a:br>
            <a: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Experience</a:t>
            </a:r>
            <a:endParaRPr sz="1100"/>
          </a:p>
        </p:txBody>
      </p:sp>
      <p:sp>
        <p:nvSpPr>
          <p:cNvPr id="101" name="Google Shape;101;p13"/>
          <p:cNvSpPr/>
          <p:nvPr/>
        </p:nvSpPr>
        <p:spPr>
          <a:xfrm>
            <a:off x="4155948" y="2359152"/>
            <a:ext cx="16803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4224528" y="2385212"/>
            <a:ext cx="154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Demonstrate creative 3D application building and visual interaction.</a:t>
            </a:r>
            <a:endParaRPr sz="1100"/>
          </a:p>
        </p:txBody>
      </p:sp>
      <p:sp>
        <p:nvSpPr>
          <p:cNvPr id="103" name="Google Shape;103;p13"/>
          <p:cNvSpPr/>
          <p:nvPr/>
        </p:nvSpPr>
        <p:spPr>
          <a:xfrm>
            <a:off x="5836158" y="2359152"/>
            <a:ext cx="28599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5904738" y="2381097"/>
            <a:ext cx="27228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>
                <a:solidFill>
                  <a:srgbClr val="5E5E5E"/>
                </a:solidFill>
                <a:latin typeface="NVIDIA Sans"/>
                <a:ea typeface="NVIDIA Sans"/>
                <a:cs typeface="NVIDIA Sans"/>
                <a:sym typeface="NVIDIA Sans"/>
              </a:rPr>
              <a:t>BAC modifies a prepared 3D web scene with locally packaged assets and dependencies.</a:t>
            </a:r>
            <a:endParaRPr sz="1100"/>
          </a:p>
        </p:txBody>
      </p:sp>
      <p:sp>
        <p:nvSpPr>
          <p:cNvPr id="105" name="Google Shape;105;p13"/>
          <p:cNvSpPr/>
          <p:nvPr/>
        </p:nvSpPr>
        <p:spPr>
          <a:xfrm>
            <a:off x="445770" y="2636901"/>
            <a:ext cx="9327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528066" y="2713710"/>
            <a:ext cx="768300" cy="123600"/>
          </a:xfrm>
          <a:prstGeom prst="rect">
            <a:avLst/>
          </a:prstGeom>
          <a:solidFill>
            <a:srgbClr val="5D9B00"/>
          </a:solidFill>
          <a:ln w="7150" cap="flat" cmpd="sng">
            <a:solidFill>
              <a:srgbClr val="5D9B00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528066" y="2723997"/>
            <a:ext cx="768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OPTIONAL</a:t>
            </a:r>
            <a:endParaRPr sz="1100"/>
          </a:p>
        </p:txBody>
      </p:sp>
      <p:sp>
        <p:nvSpPr>
          <p:cNvPr id="108" name="Google Shape;108;p13"/>
          <p:cNvSpPr/>
          <p:nvPr/>
        </p:nvSpPr>
        <p:spPr>
          <a:xfrm>
            <a:off x="1378458" y="2636901"/>
            <a:ext cx="13167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3"/>
          <p:cNvSpPr/>
          <p:nvPr/>
        </p:nvSpPr>
        <p:spPr>
          <a:xfrm>
            <a:off x="1447038" y="2713710"/>
            <a:ext cx="1179600" cy="123600"/>
          </a:xfrm>
          <a:prstGeom prst="rect">
            <a:avLst/>
          </a:prstGeom>
          <a:solidFill>
            <a:srgbClr val="447E00"/>
          </a:solidFill>
          <a:ln w="7150" cap="flat" cmpd="sng">
            <a:solidFill>
              <a:srgbClr val="447E00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1447038" y="2723997"/>
            <a:ext cx="11796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BUILD &amp; CREATE</a:t>
            </a:r>
            <a:endParaRPr sz="1100"/>
          </a:p>
        </p:txBody>
      </p:sp>
      <p:sp>
        <p:nvSpPr>
          <p:cNvPr id="111" name="Google Shape;111;p13"/>
          <p:cNvSpPr/>
          <p:nvPr/>
        </p:nvSpPr>
        <p:spPr>
          <a:xfrm>
            <a:off x="2695194" y="2636901"/>
            <a:ext cx="14607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2763774" y="2664333"/>
            <a:ext cx="1323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Generative Visual App</a:t>
            </a:r>
            <a:endParaRPr sz="1100"/>
          </a:p>
        </p:txBody>
      </p:sp>
      <p:sp>
        <p:nvSpPr>
          <p:cNvPr id="113" name="Google Shape;113;p13"/>
          <p:cNvSpPr/>
          <p:nvPr/>
        </p:nvSpPr>
        <p:spPr>
          <a:xfrm>
            <a:off x="4155948" y="2636901"/>
            <a:ext cx="16803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4224528" y="2662961"/>
            <a:ext cx="154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Show fast visual application creation and refinement.</a:t>
            </a:r>
            <a:endParaRPr sz="1100"/>
          </a:p>
        </p:txBody>
      </p:sp>
      <p:sp>
        <p:nvSpPr>
          <p:cNvPr id="115" name="Google Shape;115;p13"/>
          <p:cNvSpPr/>
          <p:nvPr/>
        </p:nvSpPr>
        <p:spPr>
          <a:xfrm>
            <a:off x="5836158" y="2636901"/>
            <a:ext cx="28599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5904738" y="2658846"/>
            <a:ext cx="27228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>
                <a:solidFill>
                  <a:srgbClr val="5E5E5E"/>
                </a:solidFill>
                <a:latin typeface="NVIDIA Sans"/>
                <a:ea typeface="NVIDIA Sans"/>
                <a:cs typeface="NVIDIA Sans"/>
                <a:sym typeface="NVIDIA Sans"/>
              </a:rPr>
              <a:t>A prepared visual or wellness-style app is adapted through prompts; use headphones if audio is enabled.</a:t>
            </a:r>
            <a:endParaRPr sz="1100"/>
          </a:p>
        </p:txBody>
      </p:sp>
      <p:sp>
        <p:nvSpPr>
          <p:cNvPr id="117" name="Google Shape;117;p13"/>
          <p:cNvSpPr/>
          <p:nvPr/>
        </p:nvSpPr>
        <p:spPr>
          <a:xfrm>
            <a:off x="445770" y="2914650"/>
            <a:ext cx="9327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528066" y="2991459"/>
            <a:ext cx="768300" cy="123600"/>
          </a:xfrm>
          <a:prstGeom prst="rect">
            <a:avLst/>
          </a:prstGeom>
          <a:solidFill>
            <a:srgbClr val="5D9B00"/>
          </a:solidFill>
          <a:ln w="7150" cap="flat" cmpd="sng">
            <a:solidFill>
              <a:srgbClr val="5D9B00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528066" y="3001746"/>
            <a:ext cx="768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OPTIONAL</a:t>
            </a:r>
            <a:endParaRPr sz="1100"/>
          </a:p>
        </p:txBody>
      </p:sp>
      <p:sp>
        <p:nvSpPr>
          <p:cNvPr id="120" name="Google Shape;120;p13"/>
          <p:cNvSpPr/>
          <p:nvPr/>
        </p:nvSpPr>
        <p:spPr>
          <a:xfrm>
            <a:off x="1378458" y="2914650"/>
            <a:ext cx="13167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1447038" y="2991459"/>
            <a:ext cx="1179600" cy="123600"/>
          </a:xfrm>
          <a:prstGeom prst="rect">
            <a:avLst/>
          </a:prstGeom>
          <a:solidFill>
            <a:srgbClr val="1F6EAA"/>
          </a:solidFill>
          <a:ln w="7150" cap="flat" cmpd="sng">
            <a:solidFill>
              <a:srgbClr val="1F6EA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1447038" y="3001746"/>
            <a:ext cx="11796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SEE &amp; UNDERSTAND</a:t>
            </a:r>
            <a:endParaRPr sz="1100"/>
          </a:p>
        </p:txBody>
      </p:sp>
      <p:sp>
        <p:nvSpPr>
          <p:cNvPr id="123" name="Google Shape;123;p13"/>
          <p:cNvSpPr/>
          <p:nvPr/>
        </p:nvSpPr>
        <p:spPr>
          <a:xfrm>
            <a:off x="2695194" y="2914650"/>
            <a:ext cx="14607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2763774" y="2942082"/>
            <a:ext cx="132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Real-time CV /</a:t>
            </a:r>
            <a:b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</a:br>
            <a: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Webcam Experience</a:t>
            </a:r>
            <a:endParaRPr sz="1100"/>
          </a:p>
        </p:txBody>
      </p:sp>
      <p:sp>
        <p:nvSpPr>
          <p:cNvPr id="125" name="Google Shape;125;p13"/>
          <p:cNvSpPr/>
          <p:nvPr/>
        </p:nvSpPr>
        <p:spPr>
          <a:xfrm>
            <a:off x="4155948" y="2914650"/>
            <a:ext cx="16803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4224528" y="2940710"/>
            <a:ext cx="1543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Show real-time perception with live input.</a:t>
            </a:r>
            <a:endParaRPr sz="1100"/>
          </a:p>
        </p:txBody>
      </p:sp>
      <p:sp>
        <p:nvSpPr>
          <p:cNvPr id="127" name="Google Shape;127;p13"/>
          <p:cNvSpPr/>
          <p:nvPr/>
        </p:nvSpPr>
        <p:spPr>
          <a:xfrm>
            <a:off x="5836158" y="2914650"/>
            <a:ext cx="28599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5904738" y="2936595"/>
            <a:ext cx="27228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>
                <a:solidFill>
                  <a:srgbClr val="5E5E5E"/>
                </a:solidFill>
                <a:latin typeface="NVIDIA Sans"/>
                <a:ea typeface="NVIDIA Sans"/>
                <a:cs typeface="NVIDIA Sans"/>
                <a:sym typeface="NVIDIA Sans"/>
              </a:rPr>
              <a:t>A controlled camera-based demo illustrates visual detection or recognition, subject to local readiness and privacy handling.</a:t>
            </a:r>
            <a:endParaRPr sz="1100"/>
          </a:p>
        </p:txBody>
      </p:sp>
      <p:sp>
        <p:nvSpPr>
          <p:cNvPr id="129" name="Google Shape;129;p13"/>
          <p:cNvSpPr/>
          <p:nvPr/>
        </p:nvSpPr>
        <p:spPr>
          <a:xfrm>
            <a:off x="445770" y="3192399"/>
            <a:ext cx="9327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528066" y="3269208"/>
            <a:ext cx="768300" cy="123600"/>
          </a:xfrm>
          <a:prstGeom prst="rect">
            <a:avLst/>
          </a:prstGeom>
          <a:solidFill>
            <a:srgbClr val="5D9B00"/>
          </a:solidFill>
          <a:ln w="7150" cap="flat" cmpd="sng">
            <a:solidFill>
              <a:srgbClr val="5D9B00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528066" y="3279495"/>
            <a:ext cx="768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OPTIONAL</a:t>
            </a:r>
            <a:endParaRPr sz="1100"/>
          </a:p>
        </p:txBody>
      </p:sp>
      <p:sp>
        <p:nvSpPr>
          <p:cNvPr id="132" name="Google Shape;132;p13"/>
          <p:cNvSpPr/>
          <p:nvPr/>
        </p:nvSpPr>
        <p:spPr>
          <a:xfrm>
            <a:off x="1378458" y="3192399"/>
            <a:ext cx="13167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1447038" y="3269208"/>
            <a:ext cx="1179600" cy="123600"/>
          </a:xfrm>
          <a:prstGeom prst="rect">
            <a:avLst/>
          </a:prstGeom>
          <a:solidFill>
            <a:srgbClr val="1F6EAA"/>
          </a:solidFill>
          <a:ln w="7150" cap="flat" cmpd="sng">
            <a:solidFill>
              <a:srgbClr val="1F6EA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1447038" y="3279495"/>
            <a:ext cx="11796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SEE &amp; UNDERSTAND</a:t>
            </a:r>
            <a:endParaRPr sz="1100"/>
          </a:p>
        </p:txBody>
      </p:sp>
      <p:sp>
        <p:nvSpPr>
          <p:cNvPr id="135" name="Google Shape;135;p13"/>
          <p:cNvSpPr/>
          <p:nvPr/>
        </p:nvSpPr>
        <p:spPr>
          <a:xfrm>
            <a:off x="2695194" y="3192399"/>
            <a:ext cx="14607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2763774" y="3219831"/>
            <a:ext cx="132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Qwen VLM</a:t>
            </a:r>
            <a:b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</a:br>
            <a: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Image Understanding</a:t>
            </a:r>
            <a:endParaRPr sz="1100"/>
          </a:p>
        </p:txBody>
      </p:sp>
      <p:sp>
        <p:nvSpPr>
          <p:cNvPr id="137" name="Google Shape;137;p13"/>
          <p:cNvSpPr/>
          <p:nvPr/>
        </p:nvSpPr>
        <p:spPr>
          <a:xfrm>
            <a:off x="4155948" y="3192399"/>
            <a:ext cx="16803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4224528" y="3218459"/>
            <a:ext cx="154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dirty="0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Demonstrate local multimodal understanding.</a:t>
            </a:r>
            <a:endParaRPr sz="1100" dirty="0"/>
          </a:p>
        </p:txBody>
      </p:sp>
      <p:sp>
        <p:nvSpPr>
          <p:cNvPr id="139" name="Google Shape;139;p13"/>
          <p:cNvSpPr/>
          <p:nvPr/>
        </p:nvSpPr>
        <p:spPr>
          <a:xfrm>
            <a:off x="5836158" y="3192399"/>
            <a:ext cx="28599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 txBox="1"/>
          <p:nvPr/>
        </p:nvSpPr>
        <p:spPr>
          <a:xfrm>
            <a:off x="5904738" y="3214344"/>
            <a:ext cx="27228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>
                <a:solidFill>
                  <a:srgbClr val="5E5E5E"/>
                </a:solidFill>
                <a:latin typeface="NVIDIA Sans"/>
                <a:ea typeface="NVIDIA Sans"/>
                <a:cs typeface="NVIDIA Sans"/>
                <a:sym typeface="NVIDIA Sans"/>
              </a:rPr>
              <a:t>The model interprets camera or prepared visual input and returns an explanation, answer or structured observation.</a:t>
            </a:r>
            <a:endParaRPr sz="1100"/>
          </a:p>
        </p:txBody>
      </p:sp>
      <p:sp>
        <p:nvSpPr>
          <p:cNvPr id="141" name="Google Shape;141;p13"/>
          <p:cNvSpPr/>
          <p:nvPr/>
        </p:nvSpPr>
        <p:spPr>
          <a:xfrm>
            <a:off x="445770" y="3470148"/>
            <a:ext cx="9327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528066" y="3546957"/>
            <a:ext cx="768300" cy="123600"/>
          </a:xfrm>
          <a:prstGeom prst="rect">
            <a:avLst/>
          </a:prstGeom>
          <a:solidFill>
            <a:srgbClr val="5D9B00"/>
          </a:solidFill>
          <a:ln w="7150" cap="flat" cmpd="sng">
            <a:solidFill>
              <a:srgbClr val="5D9B00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 txBox="1"/>
          <p:nvPr/>
        </p:nvSpPr>
        <p:spPr>
          <a:xfrm>
            <a:off x="528066" y="3557244"/>
            <a:ext cx="768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OPTIONAL</a:t>
            </a:r>
            <a:endParaRPr sz="1100"/>
          </a:p>
        </p:txBody>
      </p:sp>
      <p:sp>
        <p:nvSpPr>
          <p:cNvPr id="144" name="Google Shape;144;p13"/>
          <p:cNvSpPr/>
          <p:nvPr/>
        </p:nvSpPr>
        <p:spPr>
          <a:xfrm>
            <a:off x="1378458" y="3470148"/>
            <a:ext cx="13167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3"/>
          <p:cNvSpPr/>
          <p:nvPr/>
        </p:nvSpPr>
        <p:spPr>
          <a:xfrm>
            <a:off x="1447038" y="3546957"/>
            <a:ext cx="1179600" cy="123600"/>
          </a:xfrm>
          <a:prstGeom prst="rect">
            <a:avLst/>
          </a:prstGeom>
          <a:solidFill>
            <a:srgbClr val="8252A7"/>
          </a:solidFill>
          <a:ln w="7150" cap="flat" cmpd="sng">
            <a:solidFill>
              <a:srgbClr val="8252A7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1447038" y="3557244"/>
            <a:ext cx="11796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AGENT IN ACTION</a:t>
            </a:r>
            <a:endParaRPr sz="1100"/>
          </a:p>
        </p:txBody>
      </p:sp>
      <p:sp>
        <p:nvSpPr>
          <p:cNvPr id="147" name="Google Shape;147;p13"/>
          <p:cNvSpPr/>
          <p:nvPr/>
        </p:nvSpPr>
        <p:spPr>
          <a:xfrm>
            <a:off x="2695194" y="3470148"/>
            <a:ext cx="14607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2763774" y="3497580"/>
            <a:ext cx="132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Controlled Browser</a:t>
            </a:r>
            <a:b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</a:br>
            <a: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Automation</a:t>
            </a:r>
            <a:endParaRPr sz="1100"/>
          </a:p>
        </p:txBody>
      </p:sp>
      <p:sp>
        <p:nvSpPr>
          <p:cNvPr id="149" name="Google Shape;149;p13"/>
          <p:cNvSpPr/>
          <p:nvPr/>
        </p:nvSpPr>
        <p:spPr>
          <a:xfrm>
            <a:off x="4155948" y="3470148"/>
            <a:ext cx="16803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3"/>
          <p:cNvSpPr txBox="1"/>
          <p:nvPr/>
        </p:nvSpPr>
        <p:spPr>
          <a:xfrm>
            <a:off x="4224528" y="3496208"/>
            <a:ext cx="154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Show Agent tool use in a bounded workflow.</a:t>
            </a:r>
            <a:endParaRPr sz="1100"/>
          </a:p>
        </p:txBody>
      </p:sp>
      <p:sp>
        <p:nvSpPr>
          <p:cNvPr id="151" name="Google Shape;151;p13"/>
          <p:cNvSpPr/>
          <p:nvPr/>
        </p:nvSpPr>
        <p:spPr>
          <a:xfrm>
            <a:off x="5836158" y="3470148"/>
            <a:ext cx="28599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3"/>
          <p:cNvSpPr txBox="1"/>
          <p:nvPr/>
        </p:nvSpPr>
        <p:spPr>
          <a:xfrm>
            <a:off x="5904738" y="3492093"/>
            <a:ext cx="27228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>
                <a:solidFill>
                  <a:srgbClr val="5E5E5E"/>
                </a:solidFill>
                <a:latin typeface="NVIDIA Sans"/>
                <a:ea typeface="NVIDIA Sans"/>
                <a:cs typeface="NVIDIA Sans"/>
                <a:sym typeface="NVIDIA Sans"/>
              </a:rPr>
              <a:t>An Agent completes a pre-defined browser or local-page task using a fixed target to protect timing and reliability.</a:t>
            </a:r>
            <a:endParaRPr sz="1100"/>
          </a:p>
        </p:txBody>
      </p:sp>
      <p:sp>
        <p:nvSpPr>
          <p:cNvPr id="153" name="Google Shape;153;p13"/>
          <p:cNvSpPr/>
          <p:nvPr/>
        </p:nvSpPr>
        <p:spPr>
          <a:xfrm>
            <a:off x="445770" y="3747897"/>
            <a:ext cx="9327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3"/>
          <p:cNvSpPr/>
          <p:nvPr/>
        </p:nvSpPr>
        <p:spPr>
          <a:xfrm>
            <a:off x="528066" y="3824706"/>
            <a:ext cx="768300" cy="123600"/>
          </a:xfrm>
          <a:prstGeom prst="rect">
            <a:avLst/>
          </a:prstGeom>
          <a:solidFill>
            <a:srgbClr val="5D9B00"/>
          </a:solidFill>
          <a:ln w="7150" cap="flat" cmpd="sng">
            <a:solidFill>
              <a:srgbClr val="5D9B00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3"/>
          <p:cNvSpPr txBox="1"/>
          <p:nvPr/>
        </p:nvSpPr>
        <p:spPr>
          <a:xfrm>
            <a:off x="528066" y="3834993"/>
            <a:ext cx="768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 dirty="0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OPTIONAL</a:t>
            </a:r>
            <a:endParaRPr sz="1100" dirty="0"/>
          </a:p>
        </p:txBody>
      </p:sp>
      <p:sp>
        <p:nvSpPr>
          <p:cNvPr id="156" name="Google Shape;156;p13"/>
          <p:cNvSpPr/>
          <p:nvPr/>
        </p:nvSpPr>
        <p:spPr>
          <a:xfrm>
            <a:off x="1378458" y="3747897"/>
            <a:ext cx="13167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3"/>
          <p:cNvSpPr/>
          <p:nvPr/>
        </p:nvSpPr>
        <p:spPr>
          <a:xfrm>
            <a:off x="1447038" y="3824706"/>
            <a:ext cx="1179600" cy="123600"/>
          </a:xfrm>
          <a:prstGeom prst="rect">
            <a:avLst/>
          </a:prstGeom>
          <a:solidFill>
            <a:srgbClr val="1F6EAA"/>
          </a:solidFill>
          <a:ln w="7150" cap="flat" cmpd="sng">
            <a:solidFill>
              <a:srgbClr val="1F6EA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3"/>
          <p:cNvSpPr txBox="1"/>
          <p:nvPr/>
        </p:nvSpPr>
        <p:spPr>
          <a:xfrm>
            <a:off x="1447038" y="3834993"/>
            <a:ext cx="11796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SEE &amp; UNDERSTAND</a:t>
            </a:r>
            <a:endParaRPr sz="1100"/>
          </a:p>
        </p:txBody>
      </p:sp>
      <p:sp>
        <p:nvSpPr>
          <p:cNvPr id="159" name="Google Shape;159;p13"/>
          <p:cNvSpPr/>
          <p:nvPr/>
        </p:nvSpPr>
        <p:spPr>
          <a:xfrm>
            <a:off x="2695194" y="3747897"/>
            <a:ext cx="14607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3"/>
          <p:cNvSpPr txBox="1"/>
          <p:nvPr/>
        </p:nvSpPr>
        <p:spPr>
          <a:xfrm>
            <a:off x="2763774" y="3775329"/>
            <a:ext cx="13236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Offline Voice / TTS</a:t>
            </a:r>
            <a:endParaRPr sz="1100"/>
          </a:p>
        </p:txBody>
      </p:sp>
      <p:sp>
        <p:nvSpPr>
          <p:cNvPr id="161" name="Google Shape;161;p13"/>
          <p:cNvSpPr/>
          <p:nvPr/>
        </p:nvSpPr>
        <p:spPr>
          <a:xfrm>
            <a:off x="4155948" y="3747897"/>
            <a:ext cx="16803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 txBox="1"/>
          <p:nvPr/>
        </p:nvSpPr>
        <p:spPr>
          <a:xfrm>
            <a:off x="4224528" y="3773957"/>
            <a:ext cx="154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dirty="0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Demonstrate multimodal output after local-stack validation.</a:t>
            </a:r>
            <a:endParaRPr sz="1100" dirty="0"/>
          </a:p>
        </p:txBody>
      </p:sp>
      <p:sp>
        <p:nvSpPr>
          <p:cNvPr id="163" name="Google Shape;163;p13"/>
          <p:cNvSpPr/>
          <p:nvPr/>
        </p:nvSpPr>
        <p:spPr>
          <a:xfrm>
            <a:off x="5836158" y="3747897"/>
            <a:ext cx="28599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5904738" y="3769842"/>
            <a:ext cx="27228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 dirty="0">
                <a:solidFill>
                  <a:srgbClr val="5E5E5E"/>
                </a:solidFill>
                <a:latin typeface="NVIDIA Sans"/>
                <a:ea typeface="NVIDIA Sans"/>
                <a:cs typeface="NVIDIA Sans"/>
                <a:sym typeface="NVIDIA Sans"/>
              </a:rPr>
              <a:t>A prepared local text-to-speech flow produces spoken output; include only after offline voice components are verified.</a:t>
            </a:r>
            <a:endParaRPr sz="1100" dirty="0"/>
          </a:p>
        </p:txBody>
      </p:sp>
      <p:sp>
        <p:nvSpPr>
          <p:cNvPr id="165" name="Google Shape;165;p13"/>
          <p:cNvSpPr/>
          <p:nvPr/>
        </p:nvSpPr>
        <p:spPr>
          <a:xfrm>
            <a:off x="445770" y="4025646"/>
            <a:ext cx="9327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528066" y="4102455"/>
            <a:ext cx="768300" cy="123600"/>
          </a:xfrm>
          <a:prstGeom prst="rect">
            <a:avLst/>
          </a:prstGeom>
          <a:solidFill>
            <a:srgbClr val="4C4C4C"/>
          </a:solidFill>
          <a:ln w="715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 txBox="1"/>
          <p:nvPr/>
        </p:nvSpPr>
        <p:spPr>
          <a:xfrm>
            <a:off x="528066" y="4112742"/>
            <a:ext cx="768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EXPERT SHOWCASE</a:t>
            </a:r>
            <a:endParaRPr sz="1100"/>
          </a:p>
        </p:txBody>
      </p:sp>
      <p:sp>
        <p:nvSpPr>
          <p:cNvPr id="168" name="Google Shape;168;p13"/>
          <p:cNvSpPr/>
          <p:nvPr/>
        </p:nvSpPr>
        <p:spPr>
          <a:xfrm>
            <a:off x="1378458" y="4025646"/>
            <a:ext cx="13167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1447038" y="4102455"/>
            <a:ext cx="1179600" cy="123600"/>
          </a:xfrm>
          <a:prstGeom prst="rect">
            <a:avLst/>
          </a:prstGeom>
          <a:solidFill>
            <a:srgbClr val="BE5F1E"/>
          </a:solidFill>
          <a:ln w="7150" cap="flat" cmpd="sng">
            <a:solidFill>
              <a:srgbClr val="BE5F1E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1447038" y="4112742"/>
            <a:ext cx="11796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PHYSICAL AI &amp; 3D</a:t>
            </a:r>
            <a:endParaRPr sz="1100"/>
          </a:p>
        </p:txBody>
      </p:sp>
      <p:sp>
        <p:nvSpPr>
          <p:cNvPr id="171" name="Google Shape;171;p13"/>
          <p:cNvSpPr/>
          <p:nvPr/>
        </p:nvSpPr>
        <p:spPr>
          <a:xfrm>
            <a:off x="2695194" y="4025646"/>
            <a:ext cx="14607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2763774" y="4053078"/>
            <a:ext cx="132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Isaac Sim</a:t>
            </a:r>
            <a:b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</a:br>
            <a: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Physics Demo</a:t>
            </a:r>
            <a:endParaRPr sz="1100"/>
          </a:p>
        </p:txBody>
      </p:sp>
      <p:sp>
        <p:nvSpPr>
          <p:cNvPr id="173" name="Google Shape;173;p13"/>
          <p:cNvSpPr/>
          <p:nvPr/>
        </p:nvSpPr>
        <p:spPr>
          <a:xfrm>
            <a:off x="4155948" y="4025646"/>
            <a:ext cx="16803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 txBox="1"/>
          <p:nvPr/>
        </p:nvSpPr>
        <p:spPr>
          <a:xfrm>
            <a:off x="4224528" y="4051706"/>
            <a:ext cx="15432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Connect BAC to Physical AI and simulation.</a:t>
            </a:r>
            <a:endParaRPr sz="1100"/>
          </a:p>
        </p:txBody>
      </p:sp>
      <p:sp>
        <p:nvSpPr>
          <p:cNvPr id="175" name="Google Shape;175;p13"/>
          <p:cNvSpPr/>
          <p:nvPr/>
        </p:nvSpPr>
        <p:spPr>
          <a:xfrm>
            <a:off x="5836158" y="4025646"/>
            <a:ext cx="2859900" cy="277500"/>
          </a:xfrm>
          <a:prstGeom prst="rect">
            <a:avLst/>
          </a:prstGeom>
          <a:solidFill>
            <a:srgbClr val="FFFFFF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3"/>
          <p:cNvSpPr txBox="1"/>
          <p:nvPr/>
        </p:nvSpPr>
        <p:spPr>
          <a:xfrm>
            <a:off x="5904738" y="4047591"/>
            <a:ext cx="27228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>
                <a:solidFill>
                  <a:srgbClr val="5E5E5E"/>
                </a:solidFill>
                <a:latin typeface="NVIDIA Sans"/>
                <a:ea typeface="NVIDIA Sans"/>
                <a:cs typeface="NVIDIA Sans"/>
                <a:sym typeface="NVIDIA Sans"/>
              </a:rPr>
              <a:t>An SA presents a pre-built simulation and applies a controlled scene or parameter change; no from-scratch build.</a:t>
            </a:r>
            <a:endParaRPr sz="1100"/>
          </a:p>
        </p:txBody>
      </p:sp>
      <p:sp>
        <p:nvSpPr>
          <p:cNvPr id="177" name="Google Shape;177;p13"/>
          <p:cNvSpPr/>
          <p:nvPr/>
        </p:nvSpPr>
        <p:spPr>
          <a:xfrm>
            <a:off x="445770" y="4303395"/>
            <a:ext cx="9327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3"/>
          <p:cNvSpPr/>
          <p:nvPr/>
        </p:nvSpPr>
        <p:spPr>
          <a:xfrm>
            <a:off x="528066" y="4380204"/>
            <a:ext cx="768300" cy="123600"/>
          </a:xfrm>
          <a:prstGeom prst="rect">
            <a:avLst/>
          </a:prstGeom>
          <a:solidFill>
            <a:srgbClr val="4C4C4C"/>
          </a:solidFill>
          <a:ln w="7150" cap="flat" cmpd="sng">
            <a:solidFill>
              <a:srgbClr val="4C4C4C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528066" y="4390491"/>
            <a:ext cx="7683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EXPERT SHOWCASE</a:t>
            </a:r>
            <a:endParaRPr sz="1100"/>
          </a:p>
        </p:txBody>
      </p:sp>
      <p:sp>
        <p:nvSpPr>
          <p:cNvPr id="180" name="Google Shape;180;p13"/>
          <p:cNvSpPr/>
          <p:nvPr/>
        </p:nvSpPr>
        <p:spPr>
          <a:xfrm>
            <a:off x="1378458" y="4303395"/>
            <a:ext cx="13167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3"/>
          <p:cNvSpPr/>
          <p:nvPr/>
        </p:nvSpPr>
        <p:spPr>
          <a:xfrm>
            <a:off x="1447038" y="4380204"/>
            <a:ext cx="1179600" cy="123600"/>
          </a:xfrm>
          <a:prstGeom prst="rect">
            <a:avLst/>
          </a:prstGeom>
          <a:solidFill>
            <a:srgbClr val="8252A7"/>
          </a:solidFill>
          <a:ln w="7150" cap="flat" cmpd="sng">
            <a:solidFill>
              <a:srgbClr val="8252A7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 txBox="1"/>
          <p:nvPr/>
        </p:nvSpPr>
        <p:spPr>
          <a:xfrm>
            <a:off x="1447038" y="4390491"/>
            <a:ext cx="1179600" cy="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FFFFFF"/>
                </a:solidFill>
                <a:latin typeface="NVIDIA Sans"/>
                <a:ea typeface="NVIDIA Sans"/>
                <a:cs typeface="NVIDIA Sans"/>
                <a:sym typeface="NVIDIA Sans"/>
              </a:rPr>
              <a:t>AGENT IN ACTION</a:t>
            </a:r>
            <a:endParaRPr sz="1100"/>
          </a:p>
        </p:txBody>
      </p:sp>
      <p:sp>
        <p:nvSpPr>
          <p:cNvPr id="183" name="Google Shape;183;p13"/>
          <p:cNvSpPr/>
          <p:nvPr/>
        </p:nvSpPr>
        <p:spPr>
          <a:xfrm>
            <a:off x="2695194" y="4303395"/>
            <a:ext cx="14607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2763774" y="4330827"/>
            <a:ext cx="1323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Lobster Cam</a:t>
            </a:r>
            <a:b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</a:br>
            <a: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Skill Demo</a:t>
            </a:r>
            <a:endParaRPr sz="1100"/>
          </a:p>
        </p:txBody>
      </p:sp>
      <p:sp>
        <p:nvSpPr>
          <p:cNvPr id="185" name="Google Shape;185;p13"/>
          <p:cNvSpPr/>
          <p:nvPr/>
        </p:nvSpPr>
        <p:spPr>
          <a:xfrm>
            <a:off x="4155948" y="4303395"/>
            <a:ext cx="16803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3"/>
          <p:cNvSpPr txBox="1"/>
          <p:nvPr/>
        </p:nvSpPr>
        <p:spPr>
          <a:xfrm>
            <a:off x="4224528" y="4329455"/>
            <a:ext cx="154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Show Agent skill onboarding and execution.</a:t>
            </a:r>
            <a:endParaRPr sz="1100"/>
          </a:p>
        </p:txBody>
      </p:sp>
      <p:sp>
        <p:nvSpPr>
          <p:cNvPr id="187" name="Google Shape;187;p13"/>
          <p:cNvSpPr/>
          <p:nvPr/>
        </p:nvSpPr>
        <p:spPr>
          <a:xfrm>
            <a:off x="5836158" y="4303395"/>
            <a:ext cx="2859900" cy="277500"/>
          </a:xfrm>
          <a:prstGeom prst="rect">
            <a:avLst/>
          </a:prstGeom>
          <a:solidFill>
            <a:srgbClr val="F8F8F8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5904738" y="4325340"/>
            <a:ext cx="27228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0">
                <a:solidFill>
                  <a:srgbClr val="5E5E5E"/>
                </a:solidFill>
                <a:latin typeface="NVIDIA Sans"/>
                <a:ea typeface="NVIDIA Sans"/>
                <a:cs typeface="NVIDIA Sans"/>
                <a:sym typeface="NVIDIA Sans"/>
              </a:rPr>
              <a:t>An SA demonstrates a pre-loaded skill and output after all skill files, assets and dependencies are locally tested.</a:t>
            </a:r>
            <a:endParaRPr sz="1100"/>
          </a:p>
        </p:txBody>
      </p:sp>
      <p:sp>
        <p:nvSpPr>
          <p:cNvPr id="189" name="Google Shape;189;p13"/>
          <p:cNvSpPr/>
          <p:nvPr/>
        </p:nvSpPr>
        <p:spPr>
          <a:xfrm>
            <a:off x="445770" y="4642866"/>
            <a:ext cx="8250000" cy="150900"/>
          </a:xfrm>
          <a:prstGeom prst="rect">
            <a:avLst/>
          </a:prstGeom>
          <a:solidFill>
            <a:srgbClr val="EFF7E2"/>
          </a:solidFill>
          <a:ln w="7150" cap="flat" cmpd="sng">
            <a:solidFill>
              <a:srgbClr val="EFF7E2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 txBox="1"/>
          <p:nvPr/>
        </p:nvSpPr>
        <p:spPr>
          <a:xfrm>
            <a:off x="603504" y="4677156"/>
            <a:ext cx="78867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262626"/>
                </a:solidFill>
                <a:latin typeface="NVIDIA Sans"/>
                <a:ea typeface="NVIDIA Sans"/>
                <a:cs typeface="NVIDIA Sans"/>
                <a:sym typeface="NVIDIA Sans"/>
              </a:rPr>
              <a:t>Editing rule: add, remove or revise a demo by assigning both a session position and one shared content theme. A demo may move between positions as readiness changes.</a:t>
            </a:r>
            <a:endParaRPr sz="1100"/>
          </a:p>
        </p:txBody>
      </p:sp>
      <p:sp>
        <p:nvSpPr>
          <p:cNvPr id="191" name="Google Shape;191;p13"/>
          <p:cNvSpPr/>
          <p:nvPr/>
        </p:nvSpPr>
        <p:spPr>
          <a:xfrm>
            <a:off x="445770" y="4924044"/>
            <a:ext cx="8250000" cy="13800"/>
          </a:xfrm>
          <a:prstGeom prst="rect">
            <a:avLst/>
          </a:prstGeom>
          <a:solidFill>
            <a:srgbClr val="CACACA"/>
          </a:solidFill>
          <a:ln w="7150" cap="flat" cmpd="sng">
            <a:solidFill>
              <a:srgbClr val="CACACA"/>
            </a:solidFill>
            <a:prstDash val="solid"/>
            <a:round/>
            <a:headEnd type="none" w="sm" len="sm"/>
            <a:tailEnd type="none" w="sm" len="sm"/>
          </a:ln>
          <a:effectLst>
            <a:outerShdw blurRad="30000" dist="17250" dir="5400000" rotWithShape="0">
              <a:srgbClr val="000000">
                <a:alpha val="349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6665976" y="4999482"/>
            <a:ext cx="20301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>
                <a:solidFill>
                  <a:srgbClr val="5E5E5E"/>
                </a:solidFill>
                <a:latin typeface="NVIDIA Sans"/>
                <a:ea typeface="NVIDIA Sans"/>
                <a:cs typeface="NVIDIA Sans"/>
                <a:sym typeface="NVIDIA Sans"/>
              </a:rPr>
              <a:t>China Developer Day 2026 | BAC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</Words>
  <Application>Microsoft Macintosh PowerPoint</Application>
  <PresentationFormat>全屏显示(16:9)</PresentationFormat>
  <Paragraphs>59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Calibri</vt:lpstr>
      <vt:lpstr>NVIDIA Sans</vt:lpstr>
      <vt:lpstr>Arial</vt:lpstr>
      <vt:lpstr>Simple Light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Ken He</cp:lastModifiedBy>
  <cp:revision>1</cp:revision>
  <dcterms:modified xsi:type="dcterms:W3CDTF">2026-09-29T13:10:19Z</dcterms:modified>
</cp:coreProperties>
</file>